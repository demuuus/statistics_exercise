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0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Indonesia — Life Evaluation</c:v>
                </c:pt>
              </c:strCache>
            </c:strRef>
          </c:tx>
          <c:spPr>
            <a:ln w="38100" cap="flat">
              <a:solidFill>
                <a:srgbClr val="9E1B32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9E1B32"/>
              </a:solidFill>
              <a:ln w="9525" cap="flat">
                <a:solidFill>
                  <a:srgbClr val="9E1B32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5.24</c:v>
                </c:pt>
                <c:pt idx="1">
                  <c:v>5.2770000000000001</c:v>
                </c:pt>
                <c:pt idx="2">
                  <c:v>5.5679999999999996</c:v>
                </c:pt>
                <c:pt idx="3">
                  <c:v>5.617</c:v>
                </c:pt>
                <c:pt idx="4">
                  <c:v>5.617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CF-4186-BAE6-7BE409DF65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6B7280"/>
                    </a:solidFill>
                    <a:latin typeface="Arial"/>
                  </a:rPr>
                  <a:t>Tahun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2E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8"/>
          <c:min val="5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6B7280"/>
                    </a:solidFill>
                    <a:latin typeface="Arial"/>
                  </a:rPr>
                  <a:t>Life Evaluation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Indonesia</c:v>
                </c:pt>
              </c:strCache>
            </c:strRef>
          </c:tx>
          <c:spPr>
            <a:ln w="38100" cap="flat">
              <a:solidFill>
                <a:srgbClr val="9E1B3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9E1B32"/>
              </a:solidFill>
              <a:ln w="9525" cap="flat">
                <a:solidFill>
                  <a:srgbClr val="9E1B32"/>
                </a:solidFill>
                <a:prstDash val="solid"/>
                <a:round/>
              </a:ln>
              <a:effectLst/>
            </c:spPr>
          </c:marker>
          <c:dLbls>
            <c:dLbl>
              <c:idx val="4"/>
              <c:layout>
                <c:manualLayout>
                  <c:x val="-3.9105339105339108E-2"/>
                  <c:y val="6.219045988816615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A85-4284-8FB7-A3D999063FE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5.24</c:v>
                </c:pt>
                <c:pt idx="1">
                  <c:v>5.2770000000000001</c:v>
                </c:pt>
                <c:pt idx="2">
                  <c:v>5.5679999999999996</c:v>
                </c:pt>
                <c:pt idx="3">
                  <c:v>5.617</c:v>
                </c:pt>
                <c:pt idx="4">
                  <c:v>5.617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F0-47FC-8F55-6CEF02C4A8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Global Mean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dLbl>
              <c:idx val="2"/>
              <c:layout>
                <c:manualLayout>
                  <c:x val="-3.9105339105339171E-2"/>
                  <c:y val="5.31324888736733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11B-4E2B-8BC7-F24D092D8D19}"/>
                </c:ext>
              </c:extLst>
            </c:dLbl>
            <c:dLbl>
              <c:idx val="3"/>
              <c:layout>
                <c:manualLayout>
                  <c:x val="-3.7301587301587301E-2"/>
                  <c:y val="6.219045988816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A85-4284-8FB7-A3D999063FE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5.5536000000000003</c:v>
                </c:pt>
                <c:pt idx="1">
                  <c:v>5.5397999999999996</c:v>
                </c:pt>
                <c:pt idx="2">
                  <c:v>5.5275999999999996</c:v>
                </c:pt>
                <c:pt idx="3">
                  <c:v>5.5781999999999998</c:v>
                </c:pt>
                <c:pt idx="4">
                  <c:v>5.6498999999999997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F0-47FC-8F55-6CEF02C4A84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85"/>
          <c:min val="5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6B7280"/>
                    </a:solidFill>
                    <a:latin typeface="Arial"/>
                  </a:rPr>
                  <a:t>Life Evaluation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3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610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538CD-31A7-56D3-8887-224AA514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22397-7FA0-757A-990E-BE3B70473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2EFB3-AEA7-A185-91A4-F17692721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DDF94-5E7C-24E1-A014-0DA189732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15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1188720" y="5394960"/>
            <a:ext cx="3108960" cy="310896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01739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HAPPINESS REPORT • ANALISIS DESKRIPTIF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7650213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Tingkat </a:t>
            </a: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Kebahagiaan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2021–2025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Deskriptif World Happiness Report 2026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377440" cy="2743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4709741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Demas Fadel Anggara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7138A-3A32-1552-EAEA-A1E2E89C26FB}"/>
              </a:ext>
            </a:extLst>
          </p:cNvPr>
          <p:cNvSpPr txBox="1"/>
          <p:nvPr/>
        </p:nvSpPr>
        <p:spPr>
          <a:xfrm>
            <a:off x="10012932" y="728841"/>
            <a:ext cx="15744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September 2026</a:t>
            </a:r>
            <a:endParaRPr lang="en-I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Tujuan Analisis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138264"/>
            <a:ext cx="5486400" cy="813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ini menggunakan data World Happiness Report (WHR) 2026 untuk mengukur tingkat kebahagiaan Indonesia selama periode 2021–2025, dengan Indonesia sebagai fokus negara.</a:t>
            </a:r>
            <a:endParaRPr lang="en-US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21B9B6-FF18-940A-9F90-E65055F764FD}"/>
              </a:ext>
            </a:extLst>
          </p:cNvPr>
          <p:cNvGrpSpPr/>
          <p:nvPr/>
        </p:nvGrpSpPr>
        <p:grpSpPr>
          <a:xfrm>
            <a:off x="841618" y="2359099"/>
            <a:ext cx="2078366" cy="1125773"/>
            <a:chOff x="1051560" y="2012333"/>
            <a:chExt cx="2078366" cy="1125773"/>
          </a:xfrm>
        </p:grpSpPr>
        <p:sp>
          <p:nvSpPr>
            <p:cNvPr id="5" name="Shape 3"/>
            <p:cNvSpPr/>
            <p:nvPr/>
          </p:nvSpPr>
          <p:spPr>
            <a:xfrm>
              <a:off x="1051560" y="2012333"/>
              <a:ext cx="2078366" cy="1125773"/>
            </a:xfrm>
            <a:prstGeom prst="roundRect">
              <a:avLst>
                <a:gd name="adj" fmla="val 5161"/>
              </a:avLst>
            </a:prstGeom>
            <a:solidFill>
              <a:srgbClr val="F6F8FC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Text 4"/>
            <p:cNvSpPr/>
            <p:nvPr/>
          </p:nvSpPr>
          <p:spPr>
            <a:xfrm>
              <a:off x="1179576" y="2140349"/>
              <a:ext cx="145389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PERIODE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179576" y="2432957"/>
              <a:ext cx="1453896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2021–2025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179576" y="2745267"/>
              <a:ext cx="145389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 tahun observasi</a:t>
              </a:r>
              <a:endParaRPr lang="en-US" sz="105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6238886" y="2478201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PERTANYAAN UTAMA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8886" y="2843961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sz="1200"/>
          </a:p>
        </p:txBody>
      </p:sp>
      <p:sp>
        <p:nvSpPr>
          <p:cNvPr id="19" name="Text 17"/>
          <p:cNvSpPr/>
          <p:nvPr/>
        </p:nvSpPr>
        <p:spPr>
          <a:xfrm>
            <a:off x="6238886" y="2843961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97254" y="2798241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tingkat kebahagiaan Indonesia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berdasarkan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 WHR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tahun terakhir (2021–2025)?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8886" y="3557193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238886" y="3557193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7254" y="3511473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faktor-faktor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mempengaruhi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kebahagiaan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Indonesia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terakhir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8886" y="4270425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sz="1200"/>
          </a:p>
        </p:txBody>
      </p:sp>
      <p:sp>
        <p:nvSpPr>
          <p:cNvPr id="25" name="Text 23"/>
          <p:cNvSpPr/>
          <p:nvPr/>
        </p:nvSpPr>
        <p:spPr>
          <a:xfrm>
            <a:off x="6238886" y="4270425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7254" y="4224705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posisi skor kebahagiaan Indonesia dibandingkan negara ASEAN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terakhir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 — Data for Table 2.1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EAFAAE92-D4DE-32BF-0298-C70B0B632727}"/>
              </a:ext>
            </a:extLst>
          </p:cNvPr>
          <p:cNvSpPr/>
          <p:nvPr/>
        </p:nvSpPr>
        <p:spPr>
          <a:xfrm>
            <a:off x="2094048" y="3862993"/>
            <a:ext cx="2078366" cy="1238396"/>
          </a:xfrm>
          <a:prstGeom prst="roundRect">
            <a:avLst>
              <a:gd name="adj" fmla="val 5161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C4FE6408-6F8B-72B1-9941-5915BA49757A}"/>
              </a:ext>
            </a:extLst>
          </p:cNvPr>
          <p:cNvSpPr/>
          <p:nvPr/>
        </p:nvSpPr>
        <p:spPr>
          <a:xfrm>
            <a:off x="2222064" y="3991009"/>
            <a:ext cx="18392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NEGARA</a:t>
            </a:r>
            <a:endParaRPr lang="en-US" sz="12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90ED8BD7-35E2-77D2-A818-E6E8E035D90B}"/>
              </a:ext>
            </a:extLst>
          </p:cNvPr>
          <p:cNvSpPr/>
          <p:nvPr/>
        </p:nvSpPr>
        <p:spPr>
          <a:xfrm>
            <a:off x="2222064" y="4283617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</a:t>
            </a:r>
            <a:endParaRPr lang="en-US" sz="16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DFF2CC88-1F1A-2E13-95A3-963CF24FBCEF}"/>
              </a:ext>
            </a:extLst>
          </p:cNvPr>
          <p:cNvSpPr/>
          <p:nvPr/>
        </p:nvSpPr>
        <p:spPr>
          <a:xfrm>
            <a:off x="2222064" y="4595927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Dibandingkan ASEAN &amp; Global</a:t>
            </a:r>
            <a:endParaRPr lang="en-US" sz="10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AFA9838-74AA-5D0B-156A-CF2BBCA96B25}"/>
              </a:ext>
            </a:extLst>
          </p:cNvPr>
          <p:cNvGrpSpPr/>
          <p:nvPr/>
        </p:nvGrpSpPr>
        <p:grpSpPr>
          <a:xfrm>
            <a:off x="3317449" y="2362487"/>
            <a:ext cx="2078367" cy="1125773"/>
            <a:chOff x="1051559" y="3280470"/>
            <a:chExt cx="2078367" cy="1125773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A771D741-4B81-105F-812E-27BC97D62AB2}"/>
                </a:ext>
              </a:extLst>
            </p:cNvPr>
            <p:cNvSpPr/>
            <p:nvPr/>
          </p:nvSpPr>
          <p:spPr>
            <a:xfrm>
              <a:off x="1051559" y="3280470"/>
              <a:ext cx="2078367" cy="1125773"/>
            </a:xfrm>
            <a:prstGeom prst="roundRect">
              <a:avLst>
                <a:gd name="adj" fmla="val 5161"/>
              </a:avLst>
            </a:prstGeom>
            <a:solidFill>
              <a:srgbClr val="F6F8FC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 4">
              <a:extLst>
                <a:ext uri="{FF2B5EF4-FFF2-40B4-BE49-F238E27FC236}">
                  <a16:creationId xmlns:a16="http://schemas.microsoft.com/office/drawing/2014/main" id="{99DFA404-36B1-E63C-A8E0-0CFF95F05380}"/>
                </a:ext>
              </a:extLst>
            </p:cNvPr>
            <p:cNvSpPr/>
            <p:nvPr/>
          </p:nvSpPr>
          <p:spPr>
            <a:xfrm>
              <a:off x="1179575" y="3408486"/>
              <a:ext cx="1839207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INDIKATOR UTAMA</a:t>
              </a:r>
              <a:endParaRPr lang="en-US" sz="1200" dirty="0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1EC891D5-6879-C407-6881-F7D572B71659}"/>
                </a:ext>
              </a:extLst>
            </p:cNvPr>
            <p:cNvSpPr/>
            <p:nvPr/>
          </p:nvSpPr>
          <p:spPr>
            <a:xfrm>
              <a:off x="1179576" y="3701094"/>
              <a:ext cx="1839206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Life Evaluation</a:t>
              </a:r>
              <a:endParaRPr lang="en-US" sz="1600" dirty="0"/>
            </a:p>
          </p:txBody>
        </p:sp>
        <p:sp>
          <p:nvSpPr>
            <p:cNvPr id="45" name="Text 6">
              <a:extLst>
                <a:ext uri="{FF2B5EF4-FFF2-40B4-BE49-F238E27FC236}">
                  <a16:creationId xmlns:a16="http://schemas.microsoft.com/office/drawing/2014/main" id="{7D5412F2-89C3-B49A-9DD6-EC095D679018}"/>
                </a:ext>
              </a:extLst>
            </p:cNvPr>
            <p:cNvSpPr/>
            <p:nvPr/>
          </p:nvSpPr>
          <p:spPr>
            <a:xfrm>
              <a:off x="1179576" y="4013404"/>
              <a:ext cx="1453896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(3-year average)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Umum Life Evaluation Indonesia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497971080"/>
              </p:ext>
            </p:extLst>
          </p:nvPr>
        </p:nvGraphicFramePr>
        <p:xfrm>
          <a:off x="502920" y="1234440"/>
          <a:ext cx="6949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23444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3"/>
          <p:cNvSpPr/>
          <p:nvPr/>
        </p:nvSpPr>
        <p:spPr>
          <a:xfrm>
            <a:off x="7982712" y="146304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82712" y="1929384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29600" y="1764792"/>
            <a:ext cx="3154680" cy="983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Life Evaluation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meningkat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dari 5,240 pada 2021 menjadi 5,617 pada 2025. Dengan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sekitar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0,377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(~7,2%).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82712" y="2968592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0" y="2804000"/>
            <a:ext cx="3154680" cy="5131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tertinggi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terjadi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2022-2023,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yaitu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sebesar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0,291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82712" y="4319780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229600" y="4155188"/>
            <a:ext cx="3154680" cy="7368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Life Evaluation pada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2024 dan 2025 berada pada level yang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yaitu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5,617).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8AF7C818-4965-2CF6-C2ED-9A0174BFBAD7}"/>
              </a:ext>
            </a:extLst>
          </p:cNvPr>
          <p:cNvSpPr/>
          <p:nvPr/>
        </p:nvSpPr>
        <p:spPr>
          <a:xfrm>
            <a:off x="7982712" y="3537232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81B52126-63A0-1BB3-30D9-F0A61709DFC4}"/>
              </a:ext>
            </a:extLst>
          </p:cNvPr>
          <p:cNvSpPr/>
          <p:nvPr/>
        </p:nvSpPr>
        <p:spPr>
          <a:xfrm>
            <a:off x="8229600" y="3372640"/>
            <a:ext cx="3154680" cy="727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terbesar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2022-2023,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melambat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akhirnya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5,617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2024-2025.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">
            <a:extLst>
              <a:ext uri="{FF2B5EF4-FFF2-40B4-BE49-F238E27FC236}">
                <a16:creationId xmlns:a16="http://schemas.microsoft.com/office/drawing/2014/main" id="{34187ED7-E5EA-0124-735D-5E4781DED5CA}"/>
              </a:ext>
            </a:extLst>
          </p:cNvPr>
          <p:cNvSpPr/>
          <p:nvPr/>
        </p:nvSpPr>
        <p:spPr>
          <a:xfrm>
            <a:off x="8138160" y="1325880"/>
            <a:ext cx="3510013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5E510AB-6CAA-A992-BB68-60AC74E79E8F}"/>
              </a:ext>
            </a:extLst>
          </p:cNvPr>
          <p:cNvSpPr/>
          <p:nvPr/>
        </p:nvSpPr>
        <p:spPr>
          <a:xfrm>
            <a:off x="4343400" y="1325880"/>
            <a:ext cx="3510013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 Deskriptif — Life 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10013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490472"/>
            <a:ext cx="351001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5.4638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5100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43400" y="1490472"/>
            <a:ext cx="351001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5.5680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43400" y="2304288"/>
            <a:ext cx="35100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38160" y="1490472"/>
            <a:ext cx="351001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5.6170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38160" y="2304288"/>
            <a:ext cx="35100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3510013" cy="1417320"/>
          </a:xfrm>
          <a:prstGeom prst="roundRect">
            <a:avLst>
              <a:gd name="adj" fmla="val 5806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351001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0.1889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3922776"/>
            <a:ext cx="35100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STD. DEVIATION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2944368"/>
            <a:ext cx="3510013" cy="1417320"/>
          </a:xfrm>
          <a:prstGeom prst="roundRect">
            <a:avLst>
              <a:gd name="adj" fmla="val 5806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343400" y="3108960"/>
            <a:ext cx="351001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43400" y="3922776"/>
            <a:ext cx="35100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2944368"/>
            <a:ext cx="3510013" cy="1417320"/>
          </a:xfrm>
          <a:prstGeom prst="roundRect">
            <a:avLst>
              <a:gd name="adj" fmla="val 5806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351001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3.46%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138160" y="3922776"/>
            <a:ext cx="350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</a:t>
            </a:r>
            <a:r>
              <a:rPr lang="en-US" sz="115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OF VARIATION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39" y="4837176"/>
            <a:ext cx="11099533" cy="868680"/>
          </a:xfrm>
          <a:prstGeom prst="roundRect">
            <a:avLst>
              <a:gd name="adj" fmla="val 8421"/>
            </a:avLst>
          </a:prstGeom>
          <a:solidFill>
            <a:srgbClr val="F4DE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8680" y="4837176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Variasi Life Evaluation Indonesia selama 2021–2025 relatif kecil dan data cukup konsisten — ditunjukkan oleh coefficient of variation yang hanya 3,46%.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Distribusi Life Evaluation Indonesia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02920" y="1325879"/>
            <a:ext cx="6720840" cy="4395805"/>
          </a:xfrm>
          <a:prstGeom prst="roundRect">
            <a:avLst>
              <a:gd name="adj" fmla="val 1758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635240" y="1325880"/>
            <a:ext cx="4023360" cy="4395804"/>
          </a:xfrm>
          <a:prstGeom prst="roundRect">
            <a:avLst>
              <a:gd name="adj" fmla="val 1818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891272" y="1600200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SKEWNESS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91272" y="1856232"/>
            <a:ext cx="3511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-0.5811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91272" y="2340864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DISTRIBUSI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91272" y="2596896"/>
            <a:ext cx="3511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Left-skewed (moderat)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91272" y="3007521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(IQR)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91272" y="3263553"/>
            <a:ext cx="3511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ditemukan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91272" y="3748185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(Z-SCORE)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91272" y="4004217"/>
            <a:ext cx="3511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ditemukan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91272" y="4475320"/>
            <a:ext cx="3511296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891272" y="4566198"/>
            <a:ext cx="3511296" cy="1025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Distribusi Life Evaluation Indonesia cenderung miring ke kiri (left-skewed) dengan kemiringan yang relatif moderat. Tidak ada tahun yang teridentifikasi sebagai outlier.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E251740-B5B9-C48D-4AEF-1E0EC93CD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19" y="2141793"/>
            <a:ext cx="6518441" cy="25012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Faktor yang Berkaitan dengan Life Ladder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support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60520" y="2093976"/>
            <a:ext cx="5852160" cy="292608"/>
          </a:xfrm>
          <a:prstGeom prst="roundRect">
            <a:avLst>
              <a:gd name="adj" fmla="val 15625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160520" y="2093976"/>
            <a:ext cx="4605650" cy="292608"/>
          </a:xfrm>
          <a:prstGeom prst="roundRect">
            <a:avLst>
              <a:gd name="adj" fmla="val 15625"/>
            </a:avLst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14984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0.787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 positif kuat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5292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expectancy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2935224"/>
            <a:ext cx="5852160" cy="292608"/>
          </a:xfrm>
          <a:prstGeom prst="roundRect">
            <a:avLst>
              <a:gd name="adj" fmla="val 15625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60520" y="2935224"/>
            <a:ext cx="1269919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149840" y="2852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0.217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 positif lemah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941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GDP per capita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3776472"/>
            <a:ext cx="5852160" cy="292608"/>
          </a:xfrm>
          <a:prstGeom prst="roundRect">
            <a:avLst>
              <a:gd name="adj" fmla="val 15625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160520" y="3776472"/>
            <a:ext cx="280904" cy="292608"/>
          </a:xfrm>
          <a:prstGeom prst="roundRect">
            <a:avLst>
              <a:gd name="adj" fmla="val 1627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149840" y="3694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0.048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Hampir tidak ada korelasi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3542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Perceptions of corruption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60520" y="4617720"/>
            <a:ext cx="5852160" cy="292608"/>
          </a:xfrm>
          <a:prstGeom prst="roundRect">
            <a:avLst>
              <a:gd name="adj" fmla="val 15625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160520" y="4617720"/>
            <a:ext cx="175565" cy="292608"/>
          </a:xfrm>
          <a:prstGeom prst="roundRect">
            <a:avLst>
              <a:gd name="adj" fmla="val 2604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149840" y="45354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-0.014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Hampir tidak ada korelasi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1691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KORELASI PEARSON — VARIABEL vs LIFE LADDER (INDONESIA, 2021–2025)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2AAE-04DA-14D0-6078-3612795E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63F28B-A111-AE19-3FFF-CC32069F9170}"/>
              </a:ext>
            </a:extLst>
          </p:cNvPr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Antar Variabel dengan Life Ladder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999280-07B2-941C-1B55-BE56F51E1891}"/>
              </a:ext>
            </a:extLst>
          </p:cNvPr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BF9F5C-26A1-95CB-33DF-81D7A022FF35}"/>
              </a:ext>
            </a:extLst>
          </p:cNvPr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DD1795-02F8-FCA7-2EEF-EE147D5668EB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D5E555-98EE-84F8-2774-E4FB767DC9D1}"/>
              </a:ext>
            </a:extLst>
          </p:cNvPr>
          <p:cNvGrpSpPr/>
          <p:nvPr/>
        </p:nvGrpSpPr>
        <p:grpSpPr>
          <a:xfrm>
            <a:off x="3143691" y="1217555"/>
            <a:ext cx="5904619" cy="5026393"/>
            <a:chOff x="2945276" y="1165860"/>
            <a:chExt cx="5904619" cy="5026393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66BFA194-E674-20B6-6913-3375B348627A}"/>
                </a:ext>
              </a:extLst>
            </p:cNvPr>
            <p:cNvSpPr/>
            <p:nvPr/>
          </p:nvSpPr>
          <p:spPr>
            <a:xfrm>
              <a:off x="2945276" y="1165860"/>
              <a:ext cx="5904619" cy="5026393"/>
            </a:xfrm>
            <a:prstGeom prst="roundRect">
              <a:avLst>
                <a:gd name="adj" fmla="val 1391"/>
              </a:avLst>
            </a:prstGeom>
            <a:solidFill>
              <a:srgbClr val="F6F8FC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8" name="Picture 7" descr="cell76_crop.png">
              <a:extLst>
                <a:ext uri="{FF2B5EF4-FFF2-40B4-BE49-F238E27FC236}">
                  <a16:creationId xmlns:a16="http://schemas.microsoft.com/office/drawing/2014/main" id="{C8B68E2C-195C-E732-B355-8B30A1212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2196" y="1268713"/>
              <a:ext cx="5710777" cy="4820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6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kern="0" spc="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KORELASI RINGKAS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4B55A2-1684-EE15-ED2D-E5C2F45A9527}"/>
              </a:ext>
            </a:extLst>
          </p:cNvPr>
          <p:cNvGrpSpPr/>
          <p:nvPr/>
        </p:nvGrpSpPr>
        <p:grpSpPr>
          <a:xfrm>
            <a:off x="3196190" y="1170432"/>
            <a:ext cx="5799620" cy="4797231"/>
            <a:chOff x="3172615" y="1170432"/>
            <a:chExt cx="5799620" cy="4797231"/>
          </a:xfrm>
        </p:grpSpPr>
        <p:sp>
          <p:nvSpPr>
            <p:cNvPr id="4" name="Shape 2"/>
            <p:cNvSpPr/>
            <p:nvPr/>
          </p:nvSpPr>
          <p:spPr>
            <a:xfrm>
              <a:off x="3172615" y="1170432"/>
              <a:ext cx="5799620" cy="4797231"/>
            </a:xfrm>
            <a:prstGeom prst="roundRect">
              <a:avLst>
                <a:gd name="adj" fmla="val 1391"/>
              </a:avLst>
            </a:prstGeom>
            <a:solidFill>
              <a:srgbClr val="F6F8FC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4130597-6EB2-9285-B08F-C431CCB6B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1758" y="1264332"/>
              <a:ext cx="5601335" cy="46094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 vs Kausalitas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17602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00600" cy="858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Menunjukkan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dua variable. Ketika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berubah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variable lain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cenderung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ikut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berubah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49240" cy="1760220"/>
          </a:xfrm>
          <a:prstGeom prst="roundRect">
            <a:avLst>
              <a:gd name="adj" fmla="val 3922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KAUSALITAS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800600" cy="858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Menunjukkan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bahwa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perubahan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menyebabkan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oerubahan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30078"/>
            <a:ext cx="11018520" cy="1143000"/>
          </a:xfrm>
          <a:prstGeom prst="roundRect">
            <a:avLst>
              <a:gd name="adj" fmla="val 6452"/>
            </a:avLst>
          </a:prstGeom>
          <a:solidFill>
            <a:srgbClr val="F4DE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667238"/>
            <a:ext cx="104698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support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memiliki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positif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kuat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Life Evaluation (r = 0,787).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Namun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membuktikan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bahwa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social support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menyebabkan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</a:t>
            </a:r>
            <a:r>
              <a:rPr lang="en-US" sz="1200" i="1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Life Evaluation.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523" y="4883886"/>
            <a:ext cx="11282955" cy="675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Korelasi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menunjukkan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antara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dua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tetapi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membuktikan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sebab-akibat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terlihat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dipengaruhi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oleh </a:t>
            </a:r>
            <a:r>
              <a:rPr lang="en-US" sz="1200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lain.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vs Rata-rata Global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21885736"/>
              </p:ext>
            </p:extLst>
          </p:nvPr>
        </p:nvGraphicFramePr>
        <p:xfrm>
          <a:off x="502920" y="123444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2344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6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055864" y="146304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55864" y="1929384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75320" y="1764792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Evaluation Indonesia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berada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0,314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0,263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bawah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rata-rata global pada 2021 dan 2022.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55864" y="2798064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75320" y="2633472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berada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sedikit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rata-rata global pada 2023 (+0,040) dan 2024 (+0,039).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55864" y="3666744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275320" y="3502152"/>
            <a:ext cx="3127248" cy="581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2025,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Indonesia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kembali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0,033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bawah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rata-rata global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F08C4CA-786A-A4E4-60BA-8A40CCD13E01}"/>
              </a:ext>
            </a:extLst>
          </p:cNvPr>
          <p:cNvSpPr/>
          <p:nvPr/>
        </p:nvSpPr>
        <p:spPr>
          <a:xfrm>
            <a:off x="8055864" y="4339940"/>
            <a:ext cx="91440" cy="9144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B8A3B17-F02A-6BBE-6C18-EB34C1C4C61B}"/>
              </a:ext>
            </a:extLst>
          </p:cNvPr>
          <p:cNvSpPr/>
          <p:nvPr/>
        </p:nvSpPr>
        <p:spPr>
          <a:xfrm>
            <a:off x="8275320" y="4175347"/>
            <a:ext cx="3127248" cy="779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Indonesia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terhadap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rata-rata global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menyempit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-0,314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2021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-0,033 </a:t>
            </a:r>
            <a:r>
              <a:rPr lang="en-US" sz="1200" dirty="0" err="1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</a:t>
            </a: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2025.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</a:t>
            </a: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ASEAN — Rata-rata Life Ladder 2021–2025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2920" cy="50292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128473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31720" y="1339596"/>
            <a:ext cx="8117038" cy="402336"/>
          </a:xfrm>
          <a:prstGeom prst="roundRect">
            <a:avLst>
              <a:gd name="adj" fmla="val 9091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331720" y="1339596"/>
            <a:ext cx="7441596" cy="402336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64756" y="128473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6.548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8823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Thailand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943100"/>
            <a:ext cx="8117038" cy="402336"/>
          </a:xfrm>
          <a:prstGeom prst="roundRect">
            <a:avLst>
              <a:gd name="adj" fmla="val 9091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331720" y="1943100"/>
            <a:ext cx="6871089" cy="402336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294249" y="1888236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6.046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9174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2546604"/>
            <a:ext cx="8117038" cy="402336"/>
          </a:xfrm>
          <a:prstGeom prst="roundRect">
            <a:avLst>
              <a:gd name="adj" fmla="val 9091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331720" y="2546604"/>
            <a:ext cx="6771080" cy="402336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94240" y="249174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5.958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9524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3150108"/>
            <a:ext cx="8117038" cy="402336"/>
          </a:xfrm>
          <a:prstGeom prst="roundRect">
            <a:avLst>
              <a:gd name="adj" fmla="val 9091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331720" y="3150108"/>
            <a:ext cx="6741532" cy="402336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64692" y="3095244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69874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31720" y="3753612"/>
            <a:ext cx="8117038" cy="402336"/>
          </a:xfrm>
          <a:prstGeom prst="roundRect">
            <a:avLst>
              <a:gd name="adj" fmla="val 9091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331720" y="3753612"/>
            <a:ext cx="6209664" cy="402336"/>
          </a:xfrm>
          <a:prstGeom prst="roundRect">
            <a:avLst>
              <a:gd name="adj" fmla="val 9091"/>
            </a:avLst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32824" y="369874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5.464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30225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31720" y="4357116"/>
            <a:ext cx="8117038" cy="402336"/>
          </a:xfrm>
          <a:prstGeom prst="roundRect">
            <a:avLst>
              <a:gd name="adj" fmla="val 9091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331720" y="4357116"/>
            <a:ext cx="5040238" cy="402336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463398" y="430225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4.435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90575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B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Myanmar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4960620"/>
            <a:ext cx="8117038" cy="402336"/>
          </a:xfrm>
          <a:prstGeom prst="roundRect">
            <a:avLst>
              <a:gd name="adj" fmla="val 9091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2331720" y="4960620"/>
            <a:ext cx="4939092" cy="402336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362252" y="4905756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4.346</a:t>
            </a:r>
            <a:endParaRPr lang="en-US" sz="12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8C988F-AA09-85DD-BE1E-BB03DDD8860A}"/>
              </a:ext>
            </a:extLst>
          </p:cNvPr>
          <p:cNvGrpSpPr/>
          <p:nvPr/>
        </p:nvGrpSpPr>
        <p:grpSpPr>
          <a:xfrm>
            <a:off x="792480" y="5586984"/>
            <a:ext cx="10607040" cy="566928"/>
            <a:chOff x="502920" y="5586984"/>
            <a:chExt cx="10607040" cy="566928"/>
          </a:xfrm>
        </p:grpSpPr>
        <p:sp>
          <p:nvSpPr>
            <p:cNvPr id="32" name="Shape 30"/>
            <p:cNvSpPr/>
            <p:nvPr/>
          </p:nvSpPr>
          <p:spPr>
            <a:xfrm>
              <a:off x="502920" y="5586984"/>
              <a:ext cx="10607040" cy="566928"/>
            </a:xfrm>
            <a:prstGeom prst="roundRect">
              <a:avLst>
                <a:gd name="adj" fmla="val 12903"/>
              </a:avLst>
            </a:prstGeom>
            <a:solidFill>
              <a:srgbClr val="F4DEE2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3" name="Text 31"/>
            <p:cNvSpPr/>
            <p:nvPr/>
          </p:nvSpPr>
          <p:spPr>
            <a:xfrm>
              <a:off x="557289" y="5586984"/>
              <a:ext cx="10498302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1B1F3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Indonesia berada pada posisi ke-5 dari 7 negara ASEAN yang memiliki data dalam dataset untuk periode 2021–2025, berdasarkan rata-rata Life Ladder.</a:t>
              </a:r>
              <a:endParaRPr lang="en-US" sz="12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 — Data for Table 2.1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502920" cy="45720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58368" y="15681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8448" y="149961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Evaluation Indonesia meningkat dari 5,240 pada 2021 menjadi 5,617 pada 2025.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2814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221284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Variasi skor selama periode tersebut relatif kecil, dengan CV sebesar 3,46%.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980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29260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support menunjukkan korelasi positif kuat dengan Life Ladder (r = 0,787).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6941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8368" y="37078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63931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berada di atas rata-rata global pada 2023–2024, tetapi sedikit di bawahnya pada 2025.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44211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E1B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435254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perbandingan ASEAN (rata-rata 2021–2025), Indonesia berada di posisi ke-5 dari 7 negara yang memiliki data.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B3490A-87D9-0852-F098-B96FA4D25838}"/>
              </a:ext>
            </a:extLst>
          </p:cNvPr>
          <p:cNvGrpSpPr/>
          <p:nvPr/>
        </p:nvGrpSpPr>
        <p:grpSpPr>
          <a:xfrm>
            <a:off x="655320" y="5257800"/>
            <a:ext cx="10881360" cy="594360"/>
            <a:chOff x="658368" y="5257800"/>
            <a:chExt cx="10881360" cy="594360"/>
          </a:xfrm>
        </p:grpSpPr>
        <p:sp>
          <p:nvSpPr>
            <p:cNvPr id="19" name="Shape 17"/>
            <p:cNvSpPr/>
            <p:nvPr/>
          </p:nvSpPr>
          <p:spPr>
            <a:xfrm>
              <a:off x="658368" y="5257800"/>
              <a:ext cx="10881360" cy="594360"/>
            </a:xfrm>
            <a:prstGeom prst="roundRect">
              <a:avLst>
                <a:gd name="adj" fmla="val 8000"/>
              </a:avLst>
            </a:prstGeom>
            <a:solidFill>
              <a:srgbClr val="141A44"/>
            </a:solidFill>
            <a:ln w="9525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ext 18"/>
            <p:cNvSpPr/>
            <p:nvPr/>
          </p:nvSpPr>
          <p:spPr>
            <a:xfrm>
              <a:off x="909828" y="5276088"/>
              <a:ext cx="10378440" cy="5577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i="1" dirty="0">
                  <a:solidFill>
                    <a:srgbClr val="CADC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Catatan metodologis: korelasi tidak menunjukkan hubungan sebab-akibat. Analisis ini bersifat deskriptif dan mencakup periode 2021–2025.</a:t>
              </a:r>
              <a:endParaRPr lang="en-US" sz="12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54864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Happiness Report 2026; analysis based on DescStats_WHR_Template.ipynb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870</Words>
  <Application>Microsoft Office PowerPoint</Application>
  <PresentationFormat>Widescreen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ARGUS Analytics</dc:creator>
  <cp:lastModifiedBy>Demas Fadel Anggara</cp:lastModifiedBy>
  <cp:revision>24</cp:revision>
  <dcterms:created xsi:type="dcterms:W3CDTF">2026-09-22T17:01:01Z</dcterms:created>
  <dcterms:modified xsi:type="dcterms:W3CDTF">2026-09-23T02:30:24Z</dcterms:modified>
</cp:coreProperties>
</file>